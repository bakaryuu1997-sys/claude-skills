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MULTILINGUAL IT LEARNING PLATFORM</a:t>
            </a:r>
          </a:p>
          <a:p>
            <a:pPr>
              <a:defRPr sz="4600" b="1">
                <a:solidFill>
                  <a:srgbClr val="FFFFFF"/>
                </a:solidFill>
                <a:latin typeface="Segoe UI"/>
              </a:defRPr>
            </a:pPr>
            <a:r>
              <a:t>Sensei Hub</a:t>
            </a:r>
          </a:p>
          <a:p>
            <a:pPr>
              <a:spcAft>
                <a:spcPts val="1600"/>
              </a:spcAft>
              <a:defRPr sz="2400" b="1">
                <a:solidFill>
                  <a:srgbClr val="94A3B8"/>
                </a:solidFill>
                <a:latin typeface="Segoe UI"/>
              </a:defRPr>
            </a:pPr>
            <a:r>
              <a:t>（センセイハブ）</a:t>
            </a:r>
          </a:p>
          <a:p>
            <a:pPr>
              <a:spcAft>
                <a:spcPts val="1200"/>
              </a:spcAft>
              <a:defRPr sz="2200" b="1">
                <a:solidFill>
                  <a:srgbClr val="34D399"/>
                </a:solidFill>
                <a:latin typeface="Segoe UI"/>
              </a:defRPr>
            </a:pPr>
            <a:r>
              <a:t>母国語で IT を学ぼう！</a:t>
            </a:r>
          </a:p>
          <a:p>
            <a:pPr>
              <a:lnSpc>
                <a:spcPct val="130000"/>
              </a:lnSpc>
              <a:defRPr sz="1400">
                <a:solidFill>
                  <a:srgbClr val="CBD5E1"/>
                </a:solidFill>
                <a:latin typeface="Segoe UI"/>
              </a:defRPr>
            </a:pPr>
            <a:r>
              <a:t>英語・日本語・ベトナム語の3言語に対応。言葉の壁をゼロにし、</a:t>
            </a:r>
            <a:br/>
            <a:r>
              <a:t>誰もがプログラミングとIT技術を楽しく学べる次世代Webプラットフォーム。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46720" y="1645920"/>
            <a:ext cx="3383280" cy="118872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1783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3 LANGUAGES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日本語 / 英語 / ベトナム語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ワンタップで即時切り替え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017520"/>
            <a:ext cx="3383280" cy="118872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75320" y="3154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1,700+ LESSONS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11 専門カリキュラム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基礎からクラウド・Web3まで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389120"/>
            <a:ext cx="3383280" cy="118872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4526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AI-POWERED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Gemini &amp; OpenAI 連携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レッスン文脈を理解するAI個別指導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DEVELOPMENT TEAM &amp;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企画から運用まで — 3名の強みを掛け合わせた共創体制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BACKEND &amp; INFRASTRUCTURE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ロン (Long)</a:t>
            </a:r>
          </a:p>
          <a:p>
            <a:pPr>
              <a:spcAft>
                <a:spcPts val="800"/>
              </a:spcAft>
              <a:defRPr sz="1100" b="1">
                <a:solidFill>
                  <a:srgbClr val="CBD5E1"/>
                </a:solidFill>
                <a:latin typeface="Segoe UI"/>
              </a:defRPr>
            </a:pPr>
            <a:r>
              <a:t>担当領域 &amp; 実装実績: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RESTful API 設計 &amp; 学習進捗データ管理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SQLite &amp; Prisma ORM による高信頼DB操作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Docker コンテナ化 &amp; AWS EC2 サーバー構築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目次インデックス化による高速レスポンス担保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83280" cy="45720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FRONTEND &amp; UI/UX DESIGN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トゥイ・アイン (Thuy Anh)</a:t>
            </a:r>
          </a:p>
          <a:p>
            <a:pPr>
              <a:spcAft>
                <a:spcPts val="800"/>
              </a:spcAft>
              <a:defRPr sz="1100" b="1">
                <a:solidFill>
                  <a:srgbClr val="CBD5E1"/>
                </a:solidFill>
                <a:latin typeface="Segoe UI"/>
              </a:defRPr>
            </a:pPr>
            <a:r>
              <a:t>担当領域 &amp; 実装実績: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Next.js 14 &amp; Tailwind CSS によるモダンUI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1タップで瞬時に切り替わる3言語ローカライズ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スマホ・タブレット完全対応レスポンシブ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長時間の学習でも疲れないダークモード設計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383280" cy="45720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818CF8"/>
                </a:solidFill>
                <a:latin typeface="Segoe UI"/>
              </a:defRPr>
            </a:pPr>
            <a:r>
              <a:t>DATABASE &amp; CURRICULUM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タカユキ (Takayuki)</a:t>
            </a:r>
          </a:p>
          <a:p>
            <a:pPr>
              <a:spcAft>
                <a:spcPts val="800"/>
              </a:spcAft>
              <a:defRPr sz="1100" b="1">
                <a:solidFill>
                  <a:srgbClr val="CBD5E1"/>
                </a:solidFill>
                <a:latin typeface="Segoe UI"/>
              </a:defRPr>
            </a:pPr>
            <a:r>
              <a:t>担当領域 &amp; 実装実績: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1,700以上のレッスンコンテンツを体系化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11コース全レッスン対応の3言語クイズ開発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基本情報技術者試験・実務用語の対訳整備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理解度テストと詳細解説バンクの構築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外国人ITエンジニアが直面する『2つの大きな壁』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32004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7171"/>
                </a:solidFill>
                <a:latin typeface="Segoe UI"/>
              </a:defRPr>
            </a:pPr>
            <a:r>
              <a:t>BARRIER 01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IT技術そのものの難しさ</a:t>
            </a:r>
          </a:p>
          <a:p>
            <a:pPr>
              <a:lnSpc>
                <a:spcPct val="135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• 基本情報技術者試験やクラウドなど覚える概念が膨大。</a:t>
            </a:r>
            <a:br/>
            <a:r>
              <a:t>• アーキテクチャの仕組みが目に見えず、抽象的。</a:t>
            </a:r>
            <a:br/>
            <a:r>
              <a:t>• 独学では疑問点を解消できず、挫折率が非常に高い。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32004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74519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7171"/>
                </a:solidFill>
                <a:latin typeface="Segoe UI"/>
              </a:defRPr>
            </a:pPr>
            <a:r>
              <a:t>BARRIER 02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日本語の専門用語・言葉の壁</a:t>
            </a:r>
          </a:p>
          <a:p>
            <a:pPr>
              <a:lnSpc>
                <a:spcPct val="135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• 専門書や試験問題に難解な漢字・専門用語が頻出。</a:t>
            </a:r>
            <a:br/>
            <a:r>
              <a:t>• 単語を調べるだけで時間が消耗し、本質的な学習が進まない。</a:t>
            </a:r>
            <a:br/>
            <a:r>
              <a:t>• 母国語で理解したいが、日本の実務現場で必要な日本語も学びたい。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rgbClr val="10254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2578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💡 THE SENSEI HUB SOLUTION</a:t>
            </a:r>
          </a:p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「母国語でサッと仕組みを腑に落とし、同時に現場で使える日本語もいっしょに身につけられる場所を！」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CORE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Sensei Hub が誇る 3 つの徹底的なこだわり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38BDF8"/>
                </a:solidFill>
                <a:latin typeface="Segoe UI"/>
              </a:defRPr>
            </a:pPr>
            <a:r>
              <a:t>01</a:t>
            </a:r>
          </a:p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母国語でサクサク理解</a:t>
            </a:r>
          </a:p>
          <a:p>
            <a:pPr>
              <a:spcAft>
                <a:spcPts val="1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Intuitive Native Learning</a:t>
            </a:r>
          </a:p>
          <a:p>
            <a:pPr>
              <a:lnSpc>
                <a:spcPct val="135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ボタン1つで英語・ベトナム語・日本語を瞬時に切り替え。</a:t>
            </a:r>
            <a:br/>
            <a:br/>
            <a:r>
              <a:t>難解なアルゴリズムやクラウドの概念も、母国語で読めば最短で腑に落ちます。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83280" cy="45720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34D399"/>
                </a:solidFill>
                <a:latin typeface="Segoe UI"/>
              </a:defRPr>
            </a:pPr>
            <a:r>
              <a:t>02</a:t>
            </a:r>
          </a:p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現場で使える日本語力</a:t>
            </a:r>
          </a:p>
          <a:p>
            <a:pPr>
              <a:spcAft>
                <a:spcPts val="1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Practical IT Japanese</a:t>
            </a:r>
          </a:p>
          <a:p>
            <a:pPr>
              <a:lnSpc>
                <a:spcPct val="135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同一レッスンを日本語で並行確認可能。</a:t>
            </a:r>
            <a:br/>
            <a:br/>
            <a:r>
              <a:t>基本情報試験や面接、開発現場でそのまま通用する実務IT用語・ビジネス表現が自然に定着します。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383280" cy="45720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818CF8"/>
                </a:solidFill>
                <a:latin typeface="Segoe UI"/>
              </a:defRPr>
            </a:pPr>
            <a:r>
              <a:t>03</a:t>
            </a:r>
          </a:p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スキマ時間のスマホ学習</a:t>
            </a:r>
          </a:p>
          <a:p>
            <a:pPr>
              <a:spcAft>
                <a:spcPts val="1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Micro-learning on Mobile</a:t>
            </a:r>
          </a:p>
          <a:p>
            <a:pPr>
              <a:lnSpc>
                <a:spcPct val="135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目に優しいダークモード ＆ 高速レスポンシブ設計。</a:t>
            </a:r>
            <a:br/>
            <a:br/>
            <a:r>
              <a:t>通勤電車や電波の弱い環境でも、わずかな空き時間を活用して無理なく学習を継続できます。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CURRICULUM &amp;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基礎から実践まで完全網羅 — 11専門コース ＆ 1,700+ レッスン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28016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38BDF8"/>
                </a:solidFill>
                <a:latin typeface="Segoe UI"/>
              </a:defRPr>
            </a:pPr>
            <a:r>
              <a:t>11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専門コース体系 — キャリア目標に直結する学習パス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83280" cy="128016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38BDF8"/>
                </a:solidFill>
                <a:latin typeface="Segoe UI"/>
              </a:defRPr>
            </a:pPr>
            <a:r>
              <a:t>1,700+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充実のレッスン数 — 概念解説から実践ハンズオンまで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383280" cy="128016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7830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38BDF8"/>
                </a:solidFill>
                <a:latin typeface="Segoe UI"/>
              </a:defRPr>
            </a:pPr>
            <a:r>
              <a:t>100%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クイズ＆詳細解説 — 全レッスンで即座に理解度測定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212080" cy="13716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832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① 試験・就職対策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基本情報技術者試験 (FE) · ビジネス日本語 · 面接IT用語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00400"/>
            <a:ext cx="5212080" cy="13716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3832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4D399"/>
                </a:solidFill>
                <a:latin typeface="Segoe UI"/>
              </a:defRPr>
            </a:pPr>
            <a:r>
              <a:t>② クラウド・インフラ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AWS · Docker コンテナ · データベース設計 &amp; 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5212080" cy="13716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9377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  <a:latin typeface="Segoe UI"/>
              </a:defRPr>
            </a:pPr>
            <a:r>
              <a:t>③ 開発基礎技術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システム設計論 · アルゴリズム &amp; データ構造 · Git/GitHub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754880"/>
            <a:ext cx="5212080" cy="13716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9377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472B6"/>
                </a:solidFill>
                <a:latin typeface="Segoe UI"/>
              </a:defRPr>
            </a:pPr>
            <a:r>
              <a:t>④ 先端テクノロジー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セキュリティ基礎 &amp; 脆弱性対策 · Web3 &amp; ブロックチェーン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UNIQUE INTELLIGENCE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学びを加速させる 2 つの独自インテリジェント機能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INTELLIGENT TUTOR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レッスン連動型 AI アシスタント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その場で即時質問:</a:t>
            </a:r>
            <a:br/>
            <a:r>
              <a:t>  勉強中に分からないコードや専門用語があれば、画面を離れずにその場でAIへ相談可能。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レッスン文脈を理解:</a:t>
            </a:r>
            <a:br/>
            <a:r>
              <a:t>  現在開いているレッスンのテーマをAIが事前把握した上で、最も的確な個別回答を生成。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• モデル自在切替:</a:t>
            </a:r>
            <a:br/>
            <a:r>
              <a:t>  Google Gemini や OpenAI など、お好みの最新AIモデルを自由に選択可能。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4D399"/>
                </a:solidFill>
                <a:latin typeface="Segoe UI"/>
              </a:defRPr>
            </a:pPr>
            <a:r>
              <a:t>LIVE TREND AGGREGATOR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リアルタイム テックニュース配信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世界の最新ITトレンド自動収集:</a:t>
            </a:r>
            <a:br/>
            <a:r>
              <a:t>  Google ニュースから世界のIT・テクノロジー情報をリアルタイムに自動取得して配信。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学習の合間に業界キャッチアップ:</a:t>
            </a:r>
            <a:br/>
            <a:r>
              <a:t>  教科書的な理論だけでなく、現場で今起きている業界ニュースを自然にインプット。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• 生きた多言語IT語彙の習得:</a:t>
            </a:r>
            <a:br/>
            <a:r>
              <a:t>  ニュース記事を通じて、実際の現場やメディアで使われる生きたIT表現に触れられる。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TECH STACK &amp; ENGINEERING POLISH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モダンWebアーキテクチャ ＆ 待ち時間ゼロの表示最適化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FRONTEND   |   TypeScript · Next.js 14 · React · Tailwind CSS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高速SSR &amp; 直感的なUIレスポンス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Segoe UI"/>
              </a:defRPr>
            </a:pPr>
            <a:r>
              <a:t>BACKEND &amp; DATA   |   SQLite · Prisma ORM · Clerk Authentication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型安全なDBアクセス &amp; セキュアな認証基盤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818CF8"/>
                </a:solidFill>
                <a:latin typeface="Segoe UI"/>
              </a:defRPr>
            </a:pPr>
            <a:r>
              <a:t>INFRASTRUCTURE   |   Docker Containers · AWS EC2 Cloud Server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再現性の高いコンテナ稼働 &amp; 堅牢な運用基盤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10254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⚡ 開発のこだわり: 表示スピードの最適化（待ち時間ゼロの実現）</a:t>
            </a:r>
          </a:p>
          <a:p>
            <a:pPr>
              <a:lnSpc>
                <a:spcPct val="130000"/>
              </a:lnSpc>
              <a:defRPr sz="1100">
                <a:solidFill>
                  <a:srgbClr val="F1F5F9"/>
                </a:solidFill>
                <a:latin typeface="Segoe UI"/>
              </a:defRPr>
            </a:pPr>
            <a:r>
              <a:t>1,700以上の膨大なレッスンデータが存在しても動作が重くならないよう、目次データを事前に静的インデックス化。</a:t>
            </a:r>
            <a:br/>
            <a:r>
              <a:t>アクセス時の動的クエリ負荷を徹底排除し、ワンクリックでの瞬時切り替え（Instant TOC Rendering）を達成しました。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FUTURE ROADMAP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言葉の壁をなくし、誰もがエンジニアとして成長できる世界へ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2860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UPCOMING UPDATE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① IT専門 単語帳機能</a:t>
            </a:r>
          </a:p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  <a:latin typeface="Segoe UI"/>
              </a:defRPr>
            </a:pPr>
            <a:r>
              <a:t>レッスン中の専門用語を保存し、通勤などのスキマ時間にフラッシュカード形式で反復復習。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83280" cy="22860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74519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UPCOMING UPDATE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② 本番タイマー 模擬テスト</a:t>
            </a:r>
          </a:p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  <a:latin typeface="Segoe UI"/>
              </a:defRPr>
            </a:pPr>
            <a:r>
              <a:t>基本情報技術者試験と同条件のカウントダウンタイマーを搭載し、実践的な試験対策を支援。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383280" cy="228600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874519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UPCOMING UPDATE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③ Android アプリ一般配信</a:t>
            </a:r>
          </a:p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  <a:latin typeface="Segoe UI"/>
              </a:defRPr>
            </a:pPr>
            <a:r>
              <a:t>Web版に加え、Google Playストアを通じたモバイルネイティブアプリの一般配信を予定。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698480" cy="2103120"/>
          </a:xfrm>
          <a:prstGeom prst="roundRect">
            <a:avLst/>
          </a:prstGeom>
          <a:solidFill>
            <a:srgbClr val="1219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4D399"/>
                </a:solidFill>
                <a:latin typeface="Segoe UI"/>
              </a:defRPr>
            </a:pPr>
            <a:r>
              <a:t>OUR VISION &amp; PHILOSOPHY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「言葉の壁をなくし、世界中の誰もがエンジニアとして楽しく成長できる世界」</a:t>
            </a:r>
          </a:p>
          <a:p>
            <a:pPr>
              <a:defRPr sz="1300">
                <a:solidFill>
                  <a:srgbClr val="CBD5E1"/>
                </a:solidFill>
                <a:latin typeface="Segoe UI"/>
              </a:defRPr>
            </a:pPr>
            <a:r>
              <a:t>Sensei Hub は、学び続けるすべてのエンジニアの最も心強いパートナーであり続けます。</a:t>
            </a:r>
            <a:br/>
            <a:r>
              <a:t>ご清聴、誠にありがとうございました！ (Thank You / Cảm ơn quý vị!)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