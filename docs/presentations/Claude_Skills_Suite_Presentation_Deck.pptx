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8D1"/>
                </a:solidFill>
              </a:defRPr>
            </a:pPr>
            <a:r>
              <a:t>ENTERPRISE SOFTWARE DEVELOPMENT PLATFORM</a:t>
            </a: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Claude Skills &amp; Antigravity Suite</a:t>
            </a:r>
          </a:p>
          <a:p>
            <a:pPr>
              <a:spcAft>
                <a:spcPts val="3000"/>
              </a:spcAft>
              <a:defRPr sz="1700">
                <a:solidFill>
                  <a:srgbClr val="E2E8F0"/>
                </a:solidFill>
              </a:defRPr>
            </a:pPr>
            <a:r>
              <a:t>Bộ kỹ năng chuẩn hóa toàn diện 6 giai đoạn vòng đời dự án (32 Lifecycle Skills)</a:t>
            </a:r>
            <a:br/>
            <a:r>
              <a:t>kết hợp hệ thống siêu công cụ MCP: Serena AST, Playwright E2E &amp; Claude-Mem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Phiên bản v3.6.0  |  Bảo đảm 100% Linter PASS  |  Hỗ trợ Claude Code &amp; Antigravity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8D1"/>
                </a:solidFill>
              </a:defRPr>
            </a:pPr>
            <a:r>
              <a:t>CLAUDE SKILLS &amp; ANTIGRAVITY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Tóm Tắt Điều Hành — 3 Trụ Cột Đột Phá Năng Suất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288D1"/>
                </a:solidFill>
              </a:defRPr>
            </a:pPr>
            <a:r>
              <a:t>1. Chuẩn Hóa Khép Kín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32 kỹ năng được đánh số tuần tự A1..A9, B0..B3, C1..C8, D1..D3, X1..X7.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Nguồn sự thật duy nhất (Single Source of Truth) qua project-context.json.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I/O hợp đồng chặt chẽ: output của bước trước là input chính xác cho bước sau.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2. Kiểm Định Bằng Máy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Linter tự động x6-skill-doctor với 12 quy tắc chống regression.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Gate tự động (Gate A6/B1) chặn phình scope nếu còn &gt; 3 câu hỏi P1 chưa giải quyết.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Triệt tiêu 100% lỗi cú pháp công thức Excel, lệch số cột và placeholder TBD.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F3864"/>
                </a:solidFill>
              </a:defRPr>
            </a:pPr>
            <a:r>
              <a:t>3. Sức Mạnh Mở Rộng MCP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Serena LSP AST: Đọc hiểu và sửa code cấp độ cú pháp, tiết kiệm 80% token.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Playwright Browser: Tự động hóa kiểm thử UI, chụp ảnh màn hình và theo dõi API.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Claude-Mem Memory: Giữ vững bài học kinh nghiệm xuyên suốt các phiên làm việc.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8D1"/>
                </a:solidFill>
              </a:defRPr>
            </a:pPr>
            <a:r>
              <a:t>CLAUDE SKILLS &amp; ANTIGRAVITY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Số Liệu Toàn Cảnh Hệ Sinh Thái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2103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3600" b="1">
                <a:solidFill>
                  <a:srgbClr val="0288D1"/>
                </a:solidFill>
              </a:defRPr>
            </a:pPr>
            <a:r>
              <a:t>32</a:t>
            </a:r>
          </a:p>
          <a:p>
            <a:pPr algn="ctr">
              <a:defRPr sz="1400" b="1">
                <a:solidFill>
                  <a:srgbClr val="1F3864"/>
                </a:solidFill>
              </a:defRPr>
            </a:pPr>
            <a:r>
              <a:t>Lifecycle Skills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Từ Pre-sale đến Bàn giao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2103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3600" b="1">
                <a:solidFill>
                  <a:srgbClr val="0288D1"/>
                </a:solidFill>
              </a:defRPr>
            </a:pPr>
            <a:r>
              <a:t>6</a:t>
            </a:r>
          </a:p>
          <a:p>
            <a:pPr algn="ctr">
              <a:defRPr sz="1400" b="1">
                <a:solidFill>
                  <a:srgbClr val="1F3864"/>
                </a:solidFill>
              </a:defRPr>
            </a:pPr>
            <a:r>
              <a:t>Giai Đoạn Chuẩn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A, B, C, D, X &amp; Meta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2103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3600" b="1">
                <a:solidFill>
                  <a:srgbClr val="0288D1"/>
                </a:solidFill>
              </a:defRPr>
            </a:pPr>
            <a:r>
              <a:t>3</a:t>
            </a:r>
          </a:p>
          <a:p>
            <a:pPr algn="ctr">
              <a:defRPr sz="1400" b="1">
                <a:solidFill>
                  <a:srgbClr val="1F3864"/>
                </a:solidFill>
              </a:defRPr>
            </a:pPr>
            <a:r>
              <a:t>Máy Chủ MCP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Serena, Playwright, Mem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2103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3600" b="1">
                <a:solidFill>
                  <a:srgbClr val="0288D1"/>
                </a:solidFill>
              </a:defRPr>
            </a:pPr>
            <a:r>
              <a:t>0 FAIL</a:t>
            </a:r>
          </a:p>
          <a:p>
            <a:pPr algn="ctr">
              <a:defRPr sz="1400" b="1">
                <a:solidFill>
                  <a:srgbClr val="1F3864"/>
                </a:solidFill>
              </a:defRPr>
            </a:pPr>
            <a:r>
              <a:t>Skill Doctor Audit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100% Rules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288D1"/>
                </a:solidFill>
              </a:defRPr>
            </a:pPr>
            <a:r>
              <a:t>Đầu Ra Thực Tế Đo Đếm Được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Excel Workbooks chuẩn doanh nghiệp (bảo toàn công thức, không hardcode).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Tài liệu kỹ thuật Word/Markdown (SRS, SOW, Charter, Runbook 12 mục).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Codebase hoàn chỉnh (API specs, Postman, Jest test suite, DB migrations).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Khả Năng Phục Vụ Đa Nền Tảng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Đóng gói Marketplace Plugin cài đặt trên Claude Code, Codex, Cursor.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Hỗ trợ script auto-commit-push đồng bộ tức thì cho toàn đội ngũ.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Tương thích môi trường Windows, Linux và macOS.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8D1"/>
                </a:solidFill>
              </a:defRPr>
            </a:pPr>
            <a:r>
              <a:t>CLAUDE SKILLS &amp; ANTIGRAVITY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Giai Đoạn A &amp; B — Chuẩn Bị, Hợp Đồng &amp; Khởi Động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288D1"/>
                </a:solidFill>
              </a:defRPr>
            </a:pPr>
            <a:r>
              <a:t>Giai Đoạn A: Pre-Sale &amp; Thiết Kế (A1 → A9)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A1 (project-init): Khởi tạo project-context.json nguồn sự thật.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A2 (requirement-analysis): Bóc tách scope, phân loại Q&amp;A P1-P3.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A3 (prototype-ui): Dựng prototype HTML click được demo khách.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A4 (api-design) &amp; A5 (db-design): Thiết kế API + DB schema + ERD.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A6 (estimate) &amp; A7 (template-fill): Báo giá WBS + điền 見積書.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A8 (test-plan) &amp; A9 (project-timeline): Kế hoạch test &amp; lịch Gantt.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F3864"/>
                </a:solidFill>
              </a:defRPr>
            </a:pPr>
            <a:r>
              <a:t>Giai Đoạn B: Hợp Đồng &amp; Đặc Tả (B0 → B3)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B0 (proposal-sow): Soạn Proposal kỹ thuật &amp; SOW ký kết hợp đồng.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B1 (project-kickoff): Họp kickoff, Charter, RACI, DoR/DoD.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B2 (basic-design): 基本設計 — Screen list/flow để khách ký duyệt.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B3 (detail-design): 詳細設計 — Sequence, class, CRUD cho dev.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8D1"/>
                </a:solidFill>
              </a:defRPr>
            </a:pPr>
            <a:r>
              <a:t>CLAUDE SKILLS &amp; ANTIGRAVITY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Giai Đoạn C, D &amp; X — Vận Hành, Bàn Giao &amp; Hỗ Trợ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288D1"/>
                </a:solidFill>
              </a:defRPr>
            </a:pPr>
            <a:r>
              <a:t>Giai Đoạn C: Vận Hành (C1 → C8)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C1 (dev-implement): Scaffold / feature / bugfix.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C2 (api-test-suite): Tự động sinh test suite API.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C3 (code-review): Review checklist 5 sheet.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C4 (security-audit): Rà soát OWASP Top 10.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C5 (test-execution): Quản lý chạy UT/IT/ST.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C6 (sprint-review): Retro 4L &amp; Sprint Log.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C7 (change-request): Quản lý CR đổi scope.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C8 (release-deployment): Deploy 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Giai Đoạn D: Bàn Giao (D1 → D3)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D1 (handover-doc): Tài liệu bàn giao 12 mục + Runbook vận hành.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D2 (uat-acceptance): Nghiệm thu UAT, ký Certificate thanh toán.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D3 (user-guide-manual): Sổ tay hướng dẫn người dùng &amp; Admin.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F3864"/>
                </a:solidFill>
              </a:defRPr>
            </a:pPr>
            <a:r>
              <a:t>Giai Đoạn X: Công Cụ (X1 → X7)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X1 (codebase-knowledge): Khảo sát repo LSP.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X2 (project-architecture): Vẽ kiến trúc HTML.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X3 (project-status): Dashboard trong chat.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X4 (meeting-minutes): Biên bản cuộc họp.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X5 (coding-standards): Hiến pháp kỹ thuật.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X6 (skill-doctor): Linter audit bộ skill.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X7 (presentation-deck): Tạo slide trình chiếu.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8D1"/>
                </a:solidFill>
              </a:defRPr>
            </a:pPr>
            <a:r>
              <a:t>CLAUDE SKILLS &amp; ANTIGRAVITY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Bộ 3 Siêu Năng Lực MCP (Model Context Protocol)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288D1"/>
                </a:solidFill>
              </a:defRPr>
            </a:pPr>
            <a:r>
              <a:t>Serena MCP (AST Intel)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Duyệt cây cú pháp trừu tượng AST và Language Server Protocol (LSP).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Tìm kiếm chính xác định nghĩa class, function và mọi nơi tham chiếu.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Sửa thân hàm chính xác ở cấp độ AST, không lệch indent.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Bắt lỗi linter ngay khi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Playwright MCP (Web E2E)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Trình duyệt tự động hóa kiểm thử giao diện thực tế.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Click, nhập liệu, tương tác form và chụp screenshot trang web.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Giám sát network request API và log lỗi console trình duyệt.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Kiểm thử trải nghiệm người dùng E2E.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F3864"/>
                </a:solidFill>
              </a:defRPr>
            </a:pPr>
            <a:r>
              <a:t>Claude-Mem MCP (Memory)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Động cơ lưu trữ ký ức làm việc dài hạn xuyên suốt các phiên.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Giữ mạch ngữ cảnh và tiến độ dự án khi mở session mới.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Tìm kiếm mã nguồn tối ưu token bằng parser Tree-sitter.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Truy vấn lịch sử giải pháp và bài học cũ.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8D1"/>
                </a:solidFill>
              </a:defRPr>
            </a:pPr>
            <a:r>
              <a:t>SẴN SÀNG TRIỂN KHAI VÀ VẬN HÀNH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Nâng Tầm Kỹ Nghệ Phần Mềm Cùng AI</a:t>
            </a:r>
          </a:p>
          <a:p>
            <a:pPr>
              <a:spcAft>
                <a:spcPts val="2400"/>
              </a:spcAft>
              <a:defRPr sz="1600">
                <a:solidFill>
                  <a:srgbClr val="E2E8F0"/>
                </a:solidFill>
              </a:defRPr>
            </a:pPr>
            <a:r>
              <a:t>Kho kỹ năng đã sẵn sàng trên GitHub: https://github.com/bakaryuu1997-sys/Claude-skills</a:t>
            </a:r>
            <a:br/>
            <a:r>
              <a:t>Cài đặt một lần, tự động cập nhật và vận hành mượt mà trên toàn bộ máy thành viên.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Cảm ơn bạn đã lắng nghe! Sẵn sàng cho phần Hỏi &amp; Đáp (Q&amp;A).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